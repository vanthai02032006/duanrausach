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82880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38912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66BB6A"/>
                </a:solidFill>
                <a:latin typeface="Calibri"/>
              </a:rPr>
              <a:t>ĐẠI HỌC THÁI NGUYÊN — TRƯỜNG ĐH CÔNG NGHỆ TT&amp;TT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0972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Học phần: ỨNG DỤNG TRÍ TUỆ NHÂN TẠO (AIA331) — GV: TS. Nguyễn Tuấn Anh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  <a:latin typeface="Calibri"/>
              </a:rPr>
              <a:t>HỆ THỐNG QUẢN LÝ TRANG TRẠI RAU SẠCH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6BB6A"/>
                </a:solidFill>
                <a:latin typeface="Calibri"/>
              </a:rPr>
              <a:t>CÓ TÍCH HỢP TRÍ TUỆ NHÂN TẠO (GreenFarm AI)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Sinh viên thực hiện (nhóm 2 thành viên):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Cấn Văn Thái — DTC245200867  •  Hoàng Anh Tú — DTC245200321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BB6A"/>
                </a:solidFill>
                <a:latin typeface="Calibri"/>
              </a:rPr>
              <a:t>Lớp: K23.K1.CNTT K23C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035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6BB6A"/>
                </a:solidFill>
                <a:latin typeface="Calibri"/>
              </a:rPr>
              <a:t>Công nghệ: Django 5.x + React 18 + PostgreSQL 16 + Gemini AI + Docker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60350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Calibri"/>
              </a:rPr>
              <a:t>Thái Nguyên,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NỘI DUNG THUYẾT TRÌNH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444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1389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1. Giới thiệu đề tài &amp; vấn đề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755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Bối cảnh, hạn chế hệ thống hiện tại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20574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130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20756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2. Giải pháp &amp; chức năng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24414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Quản lý + 4 tác vụ AI + Chatbot RAG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27432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8163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27614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3. Kiến trúc &amp; CSDL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1272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3 tầng, Docker 3 container, 11 bảng (3NF)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34290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5021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34472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4. Tích hợp AI &amp;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38130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RAG kho tri thức, 3 vòng tối ưu prompt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" y="41148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187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71600" y="41330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5. Giao diện &amp; Demo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44988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14 màn hình React, QR truy xuất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8006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48737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8188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6. Kiểm thử &amp; Triển khai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71600" y="5184648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616161"/>
                </a:solidFill>
                <a:latin typeface="Calibri"/>
              </a:rPr>
              <a:t>37 TC hộp đen, Docker, AI Monitor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" y="5486400"/>
            <a:ext cx="457200" cy="45720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55595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71600" y="5504688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B5E20"/>
                </a:solidFill>
                <a:latin typeface="Calibri"/>
              </a:rPr>
              <a:t>7. Kết quả, hạn chế &amp; hướng phát triển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1. VẤN ĐỀ &amp; ĐỘNG LỰC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1371600"/>
            <a:ext cx="530352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Hiện trạng trang trại rau sạch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Quản lý bằng sổ sách / Excel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Khó theo dõi lịch chăm sóc từng lô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Không có truy xuất nguồn gốc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Thống kê, tính doanh thu thủ công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Nhân viên mới thiếu kinh nghiệm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303520" cy="4572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4447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Hạn chế &amp; nhu cầu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92024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Khiếu nại khách hàng → không truy xuất được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Vật tư thiếu kiểm soát tồn kho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Thiếu kho tri thức chia sẻ kinh nghiệm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Cần hỗ trợ AI cho nhân viên mới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Cần số hóa toàn bộ quy trình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023360"/>
            <a:ext cx="11064240" cy="20116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206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→ GIẢI PHÁP: GreenFarm AI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75488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▸  Số hóa quản lý: lô, giống, nhật ký, vật tư, thu hoạch, bán hàng, truy xuất QR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▸  Tích hợp AI tạo sinh (Gemini): 4 tác vụ + Chatbot RAG kho tri thức, cảnh báo "chỉ tham khảo"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FFFFFF"/>
                </a:solidFill>
                <a:latin typeface="Calibri"/>
              </a:rPr>
              <a:t>▸  API-first: Django REST + React SPA + PostgreSQL +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 GIẢI PHÁP TỔNG QUAN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04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371600"/>
            <a:ext cx="9418320" cy="12801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45920" y="15087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FRONTEND — React 18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01168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14 màn hình, Chatbot widget, quét QR camera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2926080"/>
            <a:ext cx="9418320" cy="128016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45920" y="30632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BACKEND — Django 5.x REST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356616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14 controllers, 6 services, 32 API endpoints, RBAC 3 vai trò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4480560"/>
            <a:ext cx="9418320" cy="128016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45920" y="461772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DỮ LIỆU &amp; AI — PostgreSQL 16 + Gemini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120640"/>
            <a:ext cx="8869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11 bảng (3NF), RAG kho tri thức, 4 tác vụ AI + Chatbot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1B5E20"/>
                </a:solidFill>
                <a:latin typeface="Calibri"/>
              </a:rPr>
              <a:t>3 vai trò RBAC: Manager (Quản lý) • Technician (Kỹ thuật) • Staff (Nhân viên) — Truy xuất QR công khai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2.1. CHỨC NĂNG QUẢN LÝ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23774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Sản xuất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Quản lý 23 lô &amp; 15 giống cây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Lịch chăm sóc (todo) + Nhật ký (done)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6 loại hoạt động: tưới, bón, sâu bệnh...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Vật tư: xuất kho an toàn (atomic)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Thu hoạch &amp; Bán hàng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Nghiệm thu chất lượng (Pass/Review)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Tự sinh mã QR VietGAP GF-XXXXXX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In tem nhãn, thu hồi mã khi sự cố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Phiếu bán hàng, tính doanh thu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237744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4572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Truy xuất &amp; Báo cáo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Quét QR → hồ sơ trồng trọt đầy đủ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Thẻ xanh/vàng/đỏ theo chất lượng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Dashboard KPI thời gian thực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Báo cáo sản lượng, doanh thu theo kỳ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47120" cy="21945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Điểm nổi bật về kỹ thuật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@transaction.atomic chống âm kho vật tư • Quy tắc 11 chống hallucination trong prompt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AI Monitor: độ trễ (latency), tỷ lệ thành công, feedback người dùng • 4 bộ test: unit, API, trace, chat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32 REST API endpoints chuẩn JSON {success, data, message}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2.2. CHỨC NĂNG AI (Gemini + RAG)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0292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6304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188720" y="1280160"/>
            <a:ext cx="10424160" cy="7772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135331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AI1: Sinh lịch chăm sóc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169164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Calibri"/>
              </a:rPr>
              <a:t>Input: giống + ngày gieo + RAG → lịch theo tuần + cảnh báo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148840"/>
            <a:ext cx="50292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33172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8720" y="2148840"/>
            <a:ext cx="10424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222199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AI2: Tóm tắt nhật ký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56032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Calibri"/>
              </a:rPr>
              <a:t>Input: nhật ký lô + RAG → tóm tắt + checklist tuần tới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017520"/>
            <a:ext cx="50292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2004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88720" y="3017520"/>
            <a:ext cx="10424160" cy="7772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63040" y="309067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AI3: Gợi ý kiểm tra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42900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Calibri"/>
              </a:rPr>
              <a:t>Input: các lô + nhật ký gần nhất → lô cần kiểm tra + lý do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886200"/>
            <a:ext cx="50292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406908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88720" y="3886200"/>
            <a:ext cx="10424160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63040" y="395935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AI4: Gợi ý thu hoạch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29768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Calibri"/>
              </a:rPr>
              <a:t>Input: lô sắp đến kỳ → đề xuất thời điểm &amp; chất lượng tham khảo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8640" y="4754880"/>
            <a:ext cx="502920" cy="7772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93776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AI5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188720" y="4754880"/>
            <a:ext cx="10424160" cy="7772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463040" y="4828032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5E20"/>
                </a:solidFill>
                <a:latin typeface="Calibri"/>
              </a:rPr>
              <a:t>AI5: Chatbot đa vòng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5166360"/>
            <a:ext cx="9875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16161"/>
                </a:solidFill>
                <a:latin typeface="Calibri"/>
              </a:rPr>
              <a:t>Câu hỏi + lịch sử 6 vòng + dữ liệu PostgreSQL + Kho tri thức → trả lời có dẫn nguồn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 KIẾN TRÚC HỆ THỐNG (Docker 3 container)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07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463040"/>
            <a:ext cx="3383280" cy="201168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greenfarm_frontend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Nginx + React SPA build
Cổng 3000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3383280" cy="201168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greenfarm_backend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Django 5.x + Gunicorn
Cổng 8000 • 14 controllers
6 services • 32 API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463040"/>
            <a:ext cx="3383280" cy="201168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1645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greenfarm_postgres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2194560"/>
            <a:ext cx="3017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PostgreSQL 16 Alpine
Cổng 5432
Persistent Volume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3192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16161"/>
                </a:solidFill>
                <a:latin typeface="Calibri"/>
              </a:rPr>
              <a:t>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22860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16161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931920"/>
            <a:ext cx="3383280" cy="1097280"/>
          </a:xfrm>
          <a:prstGeom prst="rect">
            <a:avLst/>
          </a:prstGeom>
          <a:solidFill>
            <a:srgbClr val="452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☁ Gemini API (Cloud)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526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gemini-3.5-flash-lite
RAG grounded context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60720" y="352044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616161"/>
                </a:solidFill>
                <a:latin typeface="Calibri"/>
              </a:rPr>
              <a:t>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B5E20"/>
                </a:solidFill>
                <a:latin typeface="Calibri"/>
              </a:rPr>
              <a:t>Người dùng (3 vai trò) ↔ Nginx :3000 ↔ Django :8000 ↔ PostgreSQL :5432 ↔ Gemini API • QR truy xuất công khai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616161"/>
                </a:solidFill>
                <a:latin typeface="Calibri"/>
              </a:rPr>
              <a:t>Đặc điểm: API-first JSON • CORS • Session + RBAC • Whitenoise static • docker-compose orchestration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3.1. THIẾT KẾ CSDL (11 bảng — 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08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28016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3350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auth_user + auth_group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Người dùng &amp; nhóm quyền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3350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crop_varieties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13533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Giống cây (tên KH, ngày sinh trưởng)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8308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837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crop_lots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1856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Lô trồng (variety, ngày gieo, 4 trạng thái)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78308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83794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care_logs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185623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Nhật ký (6 loại, todo/done)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228600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23408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materials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2359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Vật tư (5 nhóm, đơn giá, hạn dùng)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228600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34086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material_usages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69680" y="235915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Phiếu sử dụng vật tư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278892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28437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harvests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0" y="28620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Thu hoạch (mã QR GF-XXXXXX, thu hồi)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278892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28437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sales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286207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Bán hàng (tính total_price)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29184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346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knowledge_articles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3364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Kho tri thức RAG (is_verified)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291840"/>
            <a:ext cx="5394960" cy="43891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334670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ai_interactions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69680" y="336499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Nhật ký AI (latency, feedback)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3794760"/>
            <a:ext cx="5394960" cy="438912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384962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B5E20"/>
                </a:solidFill>
                <a:latin typeface="Calibri"/>
              </a:rPr>
              <a:t>chat_conversations/messages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0400" y="3867912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16161"/>
                </a:solidFill>
                <a:latin typeface="Calibri"/>
              </a:rPr>
              <a:t>Chatbot đa vòng + đánh giá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4. TÍCH HỢP AI &amp; THIẾT KẾ PROMPT (3 vòng tối ưu)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09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solidFill>
            <a:srgbClr val="FFCDD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463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V1 — Cơ bản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8745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"Tóm tắt nhật ký sau" → Output tự do, khó parse, đôi khi hallucination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743200"/>
            <a:ext cx="11064240" cy="1188720"/>
          </a:xfrm>
          <a:prstGeom prst="rect">
            <a:avLst/>
          </a:prstGeom>
          <a:solidFill>
            <a:srgbClr val="FFE0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34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12121"/>
                </a:solidFill>
                <a:latin typeface="Calibri"/>
              </a:rPr>
              <a:t>V2 — + System Prompt + 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461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Thêm system prompt 5 phần + JSON schema + ràng buộc "chỉ dùng dữ liệu cung cấp" → định dạng ổn định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114800"/>
            <a:ext cx="11064240" cy="11887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V3 (cuối) — + RAG + Few-shot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617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12121"/>
                </a:solidFill>
                <a:latin typeface="Calibri"/>
              </a:rPr>
              <a:t>Thêm truy xuất kho tri thức (grounded) + few-shot + cảnh báo tham khảo + lưu context_sources → không bịa, có dẫn nguồn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577840"/>
            <a:ext cx="11064240" cy="82296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715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Cơ chế RAG: farm_context_service truy xuất dữ liệu thật PostgreSQL + Kho tri thức (is_active) → inject vào prompt → AI trả lời có dẫn nguồn, giảm hallucination. Mọi gọi AI lưu AIInteraction (prompt_version=v3.0, latency_ms, feedback).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5. GIAO DIỆN &amp; DEMO THỰC TẾ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18872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mo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577840" cy="260008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126480" y="118872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demo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234440"/>
            <a:ext cx="5577840" cy="2594277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320040" y="374904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emo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794760"/>
            <a:ext cx="5577840" cy="259095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6126480" y="3749040"/>
            <a:ext cx="566928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66BB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mo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3794760"/>
            <a:ext cx="5577840" cy="25826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 KIỂM THỬ &amp; ĐẢM BẢO CHẤT LƯỢNG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11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486400" cy="24688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48640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Kiểm thử hộp đen (37 TC)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52120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3 kỹ thuật: Phân vùng tương đương (EP), Giá trị biên (BVA), Suy đoán lỗi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Bao phủ: đăng nhập, nhật ký, vật tư, thu hoạch, bán hàng, phân quyền, truy xuất, AI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4 bộ test tự động: tests.py (unit), tests_api (API+RBAC), tests_trace (QR+Quy tắc 2), tests_chat (chatbot+RAG)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Review code bằng AI: phát hiện thiếu phân quyền 1 endpoint, truy vấn chưa tối ưu → đã sửa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94960" cy="24688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Kiểm thử AI &amp; Bảo mật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AI01: dữ liệu đầy đủ → JSON đúng + cảnh báo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AI02: nhật ký trống → báo "chưa đủ dữ liệu", không bịa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AI03: dụ AI cam kết chuyên môn → AI từ chối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AI04: API lỗi/timeout → báo thân thiện, không crash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Bảo mật: Session+RBAC, API key trong .env, ORM chống SQLi, template chống XSS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023360"/>
            <a:ext cx="11247120" cy="21031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2062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Đạo đức AI &amp; HITL (Human-in-the-Loop)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75488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AI chỉ đề xuất, KHÔNG tự ghi đè dữ liệu • Mọi output kèm cảnh báo "chỉ tham khảo, cần chuyên gia kiểm chứng"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Chỉ gửi dữ liệu cần thiết cho AI, không gửi mật khẩu/khách hàng • AI Monitor đo lường chất lượng &amp; thu thập feedback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6.1. TRIỂN KHAI &amp; VẬN HÀNH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12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539496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539496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Docker Deployment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docker-compose.yml: 3 container đồng thời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PostgreSQL 16 Alpine (Persistent Volume)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Backend Django + Gunicorn (Python 3.12 Slim)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Frontend: Nginx phục vụ React build + reverse proxy /api/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Khuyến nghị triển khai Render / Railway / VPS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280160"/>
            <a:ext cx="5394960" cy="22860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280160"/>
            <a:ext cx="539496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1353312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Hiệu năng &amp; Sao lưu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18288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API response &lt; 2s (đo qua AI Monitor)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 lỗi không làm sập hệ thống (retry + circuit breaker đơn giản)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Sao lưu: pg_dump định kỳ hàng ngày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Khôi phục: pg_restore từ bản sao lưu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AI Monitor: tỷ lệ thành công, độ trễ TB → tối ưu prompt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Hoàn thiện đầy đủ: quản lý + bán hàng + truy xuất QR + thu hồi mã + 4 tác vụ AI + Chatbot RAG + AI Monitor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FFFFFF"/>
                </a:solidFill>
                <a:latin typeface="Calibri"/>
              </a:rPr>
              <a:t>▸  RAG kho tri thức giảm hallucination • 37 test case hộp đen + 4 bộ test tự động • Minh chứng AI trong mọi giai đoạn SDLC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05840"/>
            <a:ext cx="12191695" cy="54864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7. KẾT QUẢ, HẠN CHẾ &amp; HƯỚNG PHÁT TRIỂN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2743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66BB6A"/>
                </a:solidFill>
                <a:latin typeface="Calibri"/>
              </a:rPr>
              <a:t>13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5653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16161"/>
                </a:solidFill>
                <a:latin typeface="Calibri"/>
              </a:rPr>
              <a:t>GreenFarm AI — Hệ thống quản lý trang trại rau sạch tích hợp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56539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16161"/>
                </a:solidFill>
                <a:latin typeface="Calibri"/>
              </a:rPr>
              <a:t>Nhóm SV: Thái &amp; Tú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280160"/>
            <a:ext cx="3566160" cy="237744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" y="1280160"/>
            <a:ext cx="3566160" cy="4572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Kết quả đạt được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Hệ thống chạy đầy đủ chức năng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4 tác vụ AI + Chatbot RAG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QR truy xuất + thu hồi mã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37 TC hộp đen + test tự động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Báo cáo 8 chương + sơ đồ UML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280160"/>
            <a:ext cx="3566160" cy="2377440"/>
          </a:xfrm>
          <a:prstGeom prst="rect">
            <a:avLst/>
          </a:prstGeom>
          <a:solidFill>
            <a:srgbClr val="FFF3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80" y="1280160"/>
            <a:ext cx="3566160" cy="457200"/>
          </a:xfrm>
          <a:prstGeom prst="rect">
            <a:avLst/>
          </a:prstGeom>
          <a:solidFill>
            <a:srgbClr val="E651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3484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Hạn chế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Chưa tích hợp cảm biến IoT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Kho tri thức còn cơ bản, cần chuyên gia kiểm chứng (is_verified)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Chatbot phụ thuộc tốc độ Gemini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Mới hỗ trợ tiếng Việt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1280160"/>
            <a:ext cx="3566160" cy="2377440"/>
          </a:xfrm>
          <a:prstGeom prst="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280160"/>
            <a:ext cx="3566160" cy="45720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20" y="1353312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Hướng phát triển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828800"/>
            <a:ext cx="3291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Tích hợp IoT cảm biến (độ ẩm, nhiệt)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Agentic AI: tự ghi nhật ký, tự đặt lịch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Ứng dụng mobile cho nhân viên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Thanh toán online + theo dõi vận chuyển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▸  Mở rộng đa trang trại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31920"/>
            <a:ext cx="11247120" cy="21031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1148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B5E20"/>
                </a:solidFill>
                <a:latin typeface="Calibri"/>
              </a:rPr>
              <a:t>Bài học áp dụng AI trong SDLC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663440"/>
            <a:ext cx="10698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AI tăng tốc code lặp lại, tài liệu, test case — nhưng có thể sinh lỗ hổng bảo mật, hallucination, đề xuất vượt phạm vi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212121"/>
                </a:solidFill>
                <a:latin typeface="Calibri"/>
              </a:rPr>
              <a:t>▸  Nguyên tắc vàng: AI đề xuất, con người kiểm chứng &amp; chịu trách nhiệm (HITL) • Luôn yêu cầu AI trích dẫn nguồn (RAG)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CẢM ƠN THẦY CÔ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66BB6A"/>
                </a:solidFill>
                <a:latin typeface="Calibri"/>
              </a:rPr>
              <a:t>Đã quan tâm &amp; hướng dẫn nhóm chúng 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